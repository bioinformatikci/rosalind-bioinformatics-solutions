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0A8072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365760"/>
            <a:ext cx="2560320" cy="2560320"/>
          </a:xfrm>
          <a:prstGeom prst="ellipse">
            <a:avLst/>
          </a:prstGeom>
          <a:solidFill>
            <a:srgbClr val="14B8A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502920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0A807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029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CASE: THE WHITE SMOKER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Mini-Organism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&amp; Identification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5029200" cy="36576"/>
          </a:xfrm>
          <a:prstGeom prst="rect">
            <a:avLst/>
          </a:prstGeom>
          <a:solidFill>
            <a:srgbClr val="0A807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395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Organism: 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Methanocaldococcus jannaschii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(hyperthermophilic archaeon)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157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Pacific Rise, 21°N — White Smoker Vent, 2600 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035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85°C, anaerobic, H₂ + CO₂ → CH₄  (hydrogenotrophic methanogenesis)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NN  —  BENG451 / BSB511  —  Spring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Gebze Technical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THE CASE FILE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the sample come from?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42976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87552"/>
            <a:ext cx="54864" cy="2926080"/>
          </a:xfrm>
          <a:prstGeom prst="rect">
            <a:avLst/>
          </a:prstGeom>
          <a:solidFill>
            <a:srgbClr val="0A8072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033272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8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Provenance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0352" y="14173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Deep-sea submersible sediment core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85623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Pacific Rise — 21°N latitude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229514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smoker hydrothermal vent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273405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Depth: 2600 m below sea level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317296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ODTÜ Geomicrobiology Group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987552"/>
            <a:ext cx="3931920" cy="1463040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10912" y="103327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Conditions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10912" y="13898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85°C  •  Anaerobic  •  H₂ + CO₂ → CH₄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10912" y="17373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Hyperthermophilic hydrogenotrophic methanogen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578608"/>
            <a:ext cx="3931920" cy="13350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578608"/>
            <a:ext cx="54864" cy="133502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010912" y="262432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Questions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10912" y="299008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organism is this?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10912" y="33284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protein content reveal?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10912" y="366674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anything genuinely unusual?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BENG451/BSB511 — Spring 2026  |  Team NN  |  2 / 10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PIPELINE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Six-Step Analysis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274320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87552"/>
            <a:ext cx="2743200" cy="73152"/>
          </a:xfrm>
          <a:prstGeom prst="rect">
            <a:avLst/>
          </a:prstGeom>
          <a:solidFill>
            <a:srgbClr val="0A8072"/>
          </a:solidFill>
          <a:ln/>
        </p:spPr>
      </p:sp>
      <p:sp>
        <p:nvSpPr>
          <p:cNvPr id="6" name="Shape 4"/>
          <p:cNvSpPr/>
          <p:nvPr/>
        </p:nvSpPr>
        <p:spPr>
          <a:xfrm>
            <a:off x="493776" y="1124712"/>
            <a:ext cx="384048" cy="384048"/>
          </a:xfrm>
          <a:prstGeom prst="ellipse">
            <a:avLst/>
          </a:prstGeom>
          <a:solidFill>
            <a:srgbClr val="0A8072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124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50976" y="1133856"/>
            <a:ext cx="2066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Inspect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93776" y="155448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Bio.SeqIO → sanity table (12 ORFs, IDs, lengths, first 30 aa)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987552"/>
            <a:ext cx="274320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87552"/>
            <a:ext cx="274320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Shape 10"/>
          <p:cNvSpPr/>
          <p:nvPr/>
        </p:nvSpPr>
        <p:spPr>
          <a:xfrm>
            <a:off x="3328416" y="1124712"/>
            <a:ext cx="384048" cy="38404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3328416" y="1124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85616" y="1133856"/>
            <a:ext cx="2066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BLASTp + Pfam-A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28416" y="155448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NCBI SwissProt BLASTp (qblast) + EBI InterProScan REST (Pfam-A)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987552"/>
            <a:ext cx="274320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987552"/>
            <a:ext cx="27432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Shape 16"/>
          <p:cNvSpPr/>
          <p:nvPr/>
        </p:nvSpPr>
        <p:spPr>
          <a:xfrm>
            <a:off x="6163056" y="1124712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6163056" y="1124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0256" y="1133856"/>
            <a:ext cx="2066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PSI-BLAST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163056" y="155448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Twilight-zone ORFs (E&gt;1e-3 or 'hypothetical'): iterative PSI-BLAST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560320"/>
            <a:ext cx="274320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560320"/>
            <a:ext cx="27432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493776" y="2697480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50976" y="2706624"/>
            <a:ext cx="2066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Table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3776" y="3127248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CSV: orf_id, e-value, %id, Pfam hits, confidence (high/med/low)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0" y="2560320"/>
            <a:ext cx="274320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2560320"/>
            <a:ext cx="27432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Shape 28"/>
          <p:cNvSpPr/>
          <p:nvPr/>
        </p:nvSpPr>
        <p:spPr>
          <a:xfrm>
            <a:off x="3328416" y="2697480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3328416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785616" y="2706624"/>
            <a:ext cx="2066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Phylogeny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328416" y="3127248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EF-Tu marker → orthologs → NJ tree MSA → NJ tree → Newick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35040" y="2560320"/>
            <a:ext cx="274320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2560320"/>
            <a:ext cx="274320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6" name="Shape 34"/>
          <p:cNvSpPr/>
          <p:nvPr/>
        </p:nvSpPr>
        <p:spPr>
          <a:xfrm>
            <a:off x="6163056" y="2697480"/>
            <a:ext cx="384048" cy="38404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37" name="Text 35"/>
          <p:cNvSpPr/>
          <p:nvPr/>
        </p:nvSpPr>
        <p:spPr>
          <a:xfrm>
            <a:off x="6163056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620256" y="2706624"/>
            <a:ext cx="2066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163056" y="3127248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 ID • Lifestyle inference • Spotlight finding • Limits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65760" y="4370832"/>
            <a:ext cx="8412480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02920" y="44165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Politeness (mandatory): </a:t>
            </a:r>
            <a:pPr indent="0" marL="0">
              <a:buNone/>
            </a:pPr>
            <a:r>
              <a:rPr lang="en-US" sz="10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set  •  results cached to disk  •  3s sleep between jobs  •  max 3 parallel  •  5s poll interval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BENG451/BSB511 — Spring 2026  |  Team NN  |  3 / 10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HEADLINE RESULT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 Identified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1481328"/>
          </a:xfrm>
          <a:prstGeom prst="rect">
            <a:avLst/>
          </a:prstGeom>
          <a:solidFill>
            <a:srgbClr val="0A80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42416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Methanocaldococcus jannaschii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71907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 DSM 2661  •  Domain Archaea  •  Phylum Euryarchaeota  •  Class Methanococci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633472"/>
            <a:ext cx="2724912" cy="2103120"/>
          </a:xfrm>
          <a:prstGeom prst="rect">
            <a:avLst/>
          </a:prstGeom>
          <a:solidFill>
            <a:srgbClr val="0F2942"/>
          </a:solidFill>
          <a:ln w="1524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633472"/>
            <a:ext cx="2724912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2706624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Phylogenetic Tree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75488" y="3090672"/>
            <a:ext cx="250545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mORF_04 (EF-Tu) clusters as sister to M. jannaschii DSM 2661 (branch length ~0.000), nested within the Methanocaldococcus clade.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27832" y="2633472"/>
            <a:ext cx="2724912" cy="2103120"/>
          </a:xfrm>
          <a:prstGeom prst="rect">
            <a:avLst/>
          </a:prstGeom>
          <a:solidFill>
            <a:srgbClr val="0F2942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2633472"/>
            <a:ext cx="272491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2706624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Methanogenesis Genes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37560" y="3090672"/>
            <a:ext cx="250545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MCR subunits (mORF_01/06 + β-subunit), F420-hydrogenase (mORF_07), heterodisulfide reductase (mORF_09): complete hydrogenotrophic pathway.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9904" y="2633472"/>
            <a:ext cx="2724912" cy="2103120"/>
          </a:xfrm>
          <a:prstGeom prst="rect">
            <a:avLst/>
          </a:prstGeom>
          <a:solidFill>
            <a:srgbClr val="0F2942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9904" y="2633472"/>
            <a:ext cx="272491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199632" y="2706624"/>
            <a:ext cx="2505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Hyperthermophile Markers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99632" y="3090672"/>
            <a:ext cx="250545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Thermosome (mORF_03, Cpn60/TCP1) — hallmark of Archaea at 80–110°C. High charged-residue content consistent with thermostability.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BENG451/BSB511 — Spring 2026  |  Team NN  |  4 / 10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ANNOTATION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ORFs — Complete Annotation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3840480"/>
        </p:xfrm>
        <a:graphic>
          <a:graphicData uri="http://schemas.openxmlformats.org/drawingml/2006/table">
            <a:tbl>
              <a:tblPr/>
              <a:tblGrid>
                <a:gridCol w="713232"/>
                <a:gridCol w="411480"/>
                <a:gridCol w="2743200"/>
                <a:gridCol w="749808"/>
                <a:gridCol w="411480"/>
                <a:gridCol w="1097280"/>
                <a:gridCol w="64008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Annotation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E-value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Pfam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mORF_01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MCR subunit gamma (McrC)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3.2e-47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PF02249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mORF_02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EF-1alpha (archaeal EF-Tu)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PF00009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mORF_03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Thermosome subunit alpha (Cpn60)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PF00118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mORF_04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aIF2 subunit gamma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2.1e-138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PF00009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mORF_05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RNA pol subunit beta (RpoB)  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PF04563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mORF_06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MCR subunit beta (McrB)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4.7e-168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PF02783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mORF_07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F420-reducing hydrogenase beta (FrhB)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8.3e-92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PF00142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mORF_08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50S ribosomal protein L7Ae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3.4e-52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PF01248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mORF_09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Heterodisulfide reductase subunit 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2.9e-68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PF12800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mORF_10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MtrH (PSI-BLAST) †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8.4e-2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mORF_11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Lrp-family transcription regulator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4.1e-28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PF08222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mORF_12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Chromosome segregation ATPase ParA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6.7e-41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PF10609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914400"/>
            <a:ext cx="8595360" cy="2926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3"/>
          <p:cNvSpPr/>
          <p:nvPr/>
        </p:nvSpPr>
        <p:spPr>
          <a:xfrm>
            <a:off x="310896" y="9326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ORF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024128" y="9326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435608" y="9326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Annotation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178808" y="9326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E-value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928616" y="9326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%id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340096" y="9326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Pfam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437376" y="9326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74320" y="478231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Marker gene used for phylogeny    † PSI-BLAST follow-up applied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BENG451/BSB511 — Spring 2026  |  Team NN  |  5 / 10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PHYLOGENETIC PLACEMENT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EF-Tu Marker Gene — Neighbor-Joining Tree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0" cy="356616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34440"/>
            <a:ext cx="2377440" cy="0"/>
          </a:xfrm>
          <a:prstGeom prst="line">
            <a:avLst/>
          </a:prstGeom>
          <a:noFill/>
          <a:ln w="31750">
            <a:solidFill>
              <a:srgbClr val="E74C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2377440" cy="0"/>
          </a:xfrm>
          <a:prstGeom prst="line">
            <a:avLst/>
          </a:prstGeom>
          <a:noFill/>
          <a:ln w="15240">
            <a:solidFill>
              <a:srgbClr val="0A80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74520"/>
            <a:ext cx="2651760" cy="0"/>
          </a:xfrm>
          <a:prstGeom prst="line">
            <a:avLst/>
          </a:prstGeom>
          <a:noFill/>
          <a:ln w="15240">
            <a:solidFill>
              <a:srgbClr val="0A80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94560"/>
            <a:ext cx="2651760" cy="0"/>
          </a:xfrm>
          <a:prstGeom prst="line">
            <a:avLst/>
          </a:prstGeom>
          <a:noFill/>
          <a:ln w="15240">
            <a:solidFill>
              <a:srgbClr val="0A80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642616"/>
            <a:ext cx="2926080" cy="0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962656"/>
            <a:ext cx="2926080" cy="0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374136"/>
            <a:ext cx="2926080" cy="0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694176"/>
            <a:ext cx="2926080" cy="0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105656"/>
            <a:ext cx="320040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425696"/>
            <a:ext cx="320040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837176"/>
            <a:ext cx="347472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95097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mORF_05 (QUERY)  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127101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8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Methanocaldococcus jannaschii AV19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49040" y="159105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8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Methanocaldococcus jannaschii 116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49040" y="191109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8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Methanocaldococcus jannaschii VC16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023360" y="235915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Methanocaldococcus jannaschii DSM2661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23360" y="26791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Methanocaldococcus fervens AG86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023360" y="309067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Methanothermococcus thermolithotrophicus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023360" y="341071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Methanotorris igneus Kol5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97680" y="38221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Methanobacterium thermoautotrophicum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97680" y="414223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Methanothermobacter wolfeii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0" y="455371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Methanosarcina acetivorans  (outgroup)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987552"/>
            <a:ext cx="2651760" cy="2011680"/>
          </a:xfrm>
          <a:prstGeom prst="rect">
            <a:avLst/>
          </a:prstGeom>
          <a:solidFill>
            <a:srgbClr val="0D1B2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" y="10424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Claim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1389888"/>
            <a:ext cx="237744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EF-Tu marker tree topology, we identify this isolate as
</a:t>
            </a:r>
            <a:pPr indent="0" marL="0">
              <a:buNone/>
            </a:pPr>
            <a:r>
              <a:rPr lang="en-US" sz="9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Methanocaldococcus jannaschii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branches as sister to strain DSM 2661 (branch length ~0.000), within the Methanocaldococcus crown clade.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BENG451/BSB511 — Spring 2026  |  Team NN  |  6 / 10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LIFESTYLE INFERENCE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protein content reveal?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solidFill>
            <a:srgbClr val="0A807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Methanogenesis (Core Pathway)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8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mORF_01  </a:t>
            </a:r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McrC (MCR γ-subunit):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Cofactor F430 assembly / MCR complex stability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5361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8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mORF_06  </a:t>
            </a:r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McrB (MCR β-subunit):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site of CH3-S-CoM + CoB → CH4 + CoM-S-S-CoB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8105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8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mORF_07  </a:t>
            </a:r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FrhB (F420-hydrogenase β):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→ 2H+ + 2e- to reduce F420; feeds electrons into pathway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084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8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mORF_09  </a:t>
            </a:r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HdrD: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Heterodisulfide reductase; regenerates CoM-SH + CoB-SH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8412480" cy="274320"/>
          </a:xfrm>
          <a:prstGeom prst="rect">
            <a:avLst/>
          </a:prstGeom>
          <a:solidFill>
            <a:srgbClr val="F59E0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414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&amp; Stress Adaptation (85°C)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670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mORF_03  </a:t>
            </a:r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Thermosome α (Cpn60):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Archaeal Group II chaperonin; folds proteins without GroES at high 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962656"/>
            <a:ext cx="8412480" cy="274320"/>
          </a:xfrm>
          <a:prstGeom prst="rect">
            <a:avLst/>
          </a:prstGeom>
          <a:solidFill>
            <a:srgbClr val="7C3AED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9992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Processing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2552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mORF_02  </a:t>
            </a:r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EF-1alpha (EF-Tu):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Archaeal translation elongation; GTPase delivering aa-tRNA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52958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mORF_04  </a:t>
            </a:r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aIF2γ: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initiation GTPase; start codon recognition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8039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mORF_05  </a:t>
            </a:r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RpoB (RNA pol β):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Transcription; archaeal RNAP is closer to eukaryotic Pol II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407822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mORF_08  </a:t>
            </a:r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L7Ae ribosomal protein: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Archaeal-specific large subunit protein; rRNA binding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4370832"/>
            <a:ext cx="8412480" cy="274320"/>
          </a:xfrm>
          <a:prstGeom prst="rect">
            <a:avLst/>
          </a:prstGeom>
          <a:solidFill>
            <a:srgbClr val="64748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44074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&amp; Cell Division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4663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mORF_11  </a:t>
            </a:r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Lrp regulator: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Leucine-responsive transcriptional regulator; global gene control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49377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mORF_12  </a:t>
            </a:r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ATPase: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Chromosome segregation; partitioning of replicated DNA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BENG451/BSB511 — Spring 2026  |  Team NN  |  7 / 10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SPOTLIGHT FINDING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this protein in this organism?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389888"/>
          </a:xfrm>
          <a:prstGeom prst="rect">
            <a:avLst/>
          </a:prstGeom>
          <a:solidFill>
            <a:srgbClr val="0A807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98755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875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996696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mORF_03 — Thermosome subunit alpha (Cpn60/TCP1)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34440" y="1389888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Pfam: PF00118  •  BLASTp e=0.0  •  100% identity to M. jannaschii DSM 2661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16642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HIGH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4114800" cy="2331720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23160"/>
            <a:ext cx="54864" cy="2331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2468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interesting?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283464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Methanocaldococcus jannaschii grows at up to 122°C — the current record for life. At these temperatures, most proteins denature instantly. The thermosome (Group II chaperonin) is the primary protein-folding machine that allows newly synthesised polypeptides to reach their native state without aggregating. Unlike bacterial GroEL/GroES (which require a separate co-chaperonin lid), the archaeal thermosome is a self-contained octadecameric barrel — an elegant adaptation to extreme heat.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423160"/>
            <a:ext cx="4114800" cy="2331720"/>
          </a:xfrm>
          <a:prstGeom prst="rect">
            <a:avLst/>
          </a:prstGeom>
          <a:solidFill>
            <a:srgbClr val="0F294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2423160"/>
            <a:ext cx="54864" cy="2331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828032" y="2468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significance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28032" y="283464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thermosome is the ancestor of the eukaryotic CCT/TRiC chaperonin (which folds actin and tubulin in your cells). Finding it here provides a window into early evolution of the chaperonin superfamily. Additionally, thermosomes from extremophiles are actively studied as nano-containers for drug delivery and enzyme protection — giving this ORF both fundamental and applied relevance.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BENG451/BSB511 — Spring 2026  |  Team NN  |  8 / 10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METHODS &amp; LIMITS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each method contribute?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87552"/>
          <a:ext cx="8412480" cy="1280160"/>
        </p:xfrm>
        <a:graphic>
          <a:graphicData uri="http://schemas.openxmlformats.org/drawingml/2006/table">
            <a:tbl>
              <a:tblPr/>
              <a:tblGrid>
                <a:gridCol w="2103120"/>
                <a:gridCol w="1463040"/>
                <a:gridCol w="3200400"/>
                <a:gridCol w="1645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ORFs solved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example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BLASTp (SwissProt)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/ 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mORF_04 (EF-Tu) — e=0.0, 100%id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 in twilight zone (&lt;30%id)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Pfam-A (InterProScan)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/ 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mORF_07: F420_oxidored domain decisive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domain for mORF_10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PSI-BLAST (iterative)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mORF_10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BLASTp e=8.4e-2 → PSI-BLAST: MtrH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 remains 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24231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Unresolved ORFs &amp; What Would Help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65760" y="2880360"/>
            <a:ext cx="84124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2880360"/>
            <a:ext cx="54864" cy="60350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291693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mORF_10  [LOW]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289864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PSI-BLAST assignment (MtrH, putative). BLASTp e=8.4e-2. No Pfam hit.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663440" y="291693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8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 structure prediction + structural comparison to MtrH (out of scope this semester); broader database (IMG/M archaeal metagenomes).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65760" y="3538728"/>
            <a:ext cx="84124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3538728"/>
            <a:ext cx="54864" cy="6035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357530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mORF_11  [MED]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" y="3557016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Lrp-family assigned (medium confidence). Lrp regulators are functionally diverse — unclear which genes this regulates.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663440" y="3575304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8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ChIP-seq or co-immunoprecipitation in M. jannaschii; phylogenetic profiling of target operons.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65760" y="4197096"/>
            <a:ext cx="84124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5760" y="4197096"/>
            <a:ext cx="54864" cy="6035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42336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mORF_12  [MED]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02920" y="4215384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ParA-family assigned, but ParA is also found in plasmid partitioning — chromosomal vs plasmid role ambiguous.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663440" y="4233672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8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Synteny analysis against M. jannaschii DSM 2661 genome; tagging + fluorescence microscopy.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BENG451/BSB511 — Spring 2026  |  Team NN  |  9 / 10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200400"/>
            <a:ext cx="4572000" cy="4572000"/>
          </a:xfrm>
          <a:prstGeom prst="ellipse">
            <a:avLst/>
          </a:prstGeom>
          <a:solidFill>
            <a:srgbClr val="0A8072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CONCLUSIONS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84048" cy="384048"/>
          </a:xfrm>
          <a:prstGeom prst="ellipse">
            <a:avLst/>
          </a:prstGeom>
          <a:solidFill>
            <a:srgbClr val="0A807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9536" y="1042416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 identified as Methanocaldococcus jannaschii — a hyperthermophilic hydrogenotrophic archaeon from the deepest branches of the methanogen tree.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384048" cy="38404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9536" y="1792224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Methanogenesis pathway reconstructed: MCR subunits (mORF_01, 06), F420-hydrogenase (mORF_07), and HdrD (mORF_09) establish H2 + CO2 → CH4 lifestyle.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96896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9536" y="2542032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adaptation confirmed: Thermosome subunit (mORF_03) is the spotlight finding — the Self-capping Group II chaperonin that enables protein folding at 85–122°C.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346704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9536" y="3291840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 ORFs annotated with HIGH or MEDIUM confidence using BLASTp + Pfam-A. PSI-BLAST rescued mORF_10 (MtrH, low confidence). 0 ORFs remained completely unidentified.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096512"/>
            <a:ext cx="384048" cy="38404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9536" y="4041648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protein set paints a complete picture: a dark, high-pressure, superheated chemolithotroph — life at the physical limit, sustained by hydrogen and buried geology.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0" y="477316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A8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Q&amp;A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Mystery Mini-Organism: The White Smoker Methanogen</dc:title>
  <dc:subject>PptxGenJS Presentation</dc:subject>
  <dc:creator>Team NN — BENG451/BSB511</dc:creator>
  <cp:lastModifiedBy>Team NN — BENG451/BSB511</cp:lastModifiedBy>
  <cp:revision>1</cp:revision>
  <dcterms:created xsi:type="dcterms:W3CDTF">2026-05-06T13:14:30Z</dcterms:created>
  <dcterms:modified xsi:type="dcterms:W3CDTF">2026-05-06T13:14:30Z</dcterms:modified>
</cp:coreProperties>
</file>